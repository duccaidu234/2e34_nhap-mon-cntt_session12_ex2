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PTIT-LEARNING biến mỗi buổi học thành một lớp học ảo tương tác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32918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HỌC VIÊN</a:t>
            </a:r>
            <a:br/>
            <a:r>
              <a:t>Tham gia • Hỏi đáp</a:t>
            </a:r>
            <a:br/>
            <a:r>
              <a:t>Theo dõi tiến độ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828800"/>
            <a:ext cx="32918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GIẢNG VIÊN</a:t>
            </a:r>
            <a:br/>
            <a:r>
              <a:t>Dạy trực tiếp • Chia sẻ</a:t>
            </a:r>
            <a:br/>
            <a:r>
              <a:t>Điểm danh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828800"/>
            <a:ext cx="3108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HỆ THỐNG</a:t>
            </a:r>
            <a:br/>
            <a:r>
              <a:t>Lịch học • Học liệu</a:t>
            </a:r>
            <a:br/>
            <a:r>
              <a:t>Báo cáo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FF8C28"/>
                </a:solidFill>
              </a:defRPr>
            </a:pPr>
            <a:r>
              <a:t>Nền tảng học trực tuyến dành cho hành trình học tập linh hoạt.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Lộ trình học tập rõ ràng giúp học viên biết bước tiếp theo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3108960" cy="3291840"/>
          </a:xfrm>
          <a:prstGeom prst="roundRect">
            <a:avLst/>
          </a:prstGeom>
          <a:solidFill>
            <a:srgbClr val="142D4B"/>
          </a:solidFill>
          <a:ln>
            <a:solidFill>
              <a:srgbClr val="FF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8C28"/>
                </a:solidFill>
              </a:defRPr>
            </a:pPr>
            <a:r>
              <a:t>01  KHÁM PHÁ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t>Chọn khóa học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t>→ Đăng ký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60520" y="1645920"/>
            <a:ext cx="3108960" cy="3291840"/>
          </a:xfrm>
          <a:prstGeom prst="roundRect">
            <a:avLst/>
          </a:prstGeom>
          <a:solidFill>
            <a:srgbClr val="142D4B"/>
          </a:solidFill>
          <a:ln>
            <a:solidFill>
              <a:srgbClr val="FF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8C28"/>
                </a:solidFill>
              </a:defRPr>
            </a:pPr>
            <a:r>
              <a:t>02  HỌC TẬP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t>Vào lớp ảo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t>→ Học liệu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t>→ Điểm danh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645920"/>
            <a:ext cx="3108960" cy="3291840"/>
          </a:xfrm>
          <a:prstGeom prst="roundRect">
            <a:avLst/>
          </a:prstGeom>
          <a:solidFill>
            <a:srgbClr val="142D4B"/>
          </a:solidFill>
          <a:ln>
            <a:solidFill>
              <a:srgbClr val="FF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8C28"/>
                </a:solidFill>
              </a:defRPr>
            </a:pPr>
            <a:r>
              <a:t>03  HOÀN THÀNH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t>Làm bài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t>→ Theo dõi tiến độ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t>→ Đánh giá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274320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8C28"/>
                </a:solidFill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274320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8C28"/>
                </a:solidFill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Lớp học ảo kết nối giảng viên và học viên trong một không gian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8C28"/>
                </a:solidFill>
              </a:defRPr>
            </a:pPr>
            <a:r>
              <a:t>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4389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0">
                <a:solidFill>
                  <a:srgbClr val="FFFFFF"/>
                </a:solidFill>
              </a:defRPr>
            </a:pPr>
            <a:r>
              <a:t>Tham gia lớp theo lịch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8C28"/>
                </a:solidFill>
              </a:defRPr>
            </a:pPr>
            <a:r>
              <a:t>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240280"/>
            <a:ext cx="4389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0">
                <a:solidFill>
                  <a:srgbClr val="FFFFFF"/>
                </a:solidFill>
              </a:defRPr>
            </a:pPr>
            <a:r>
              <a:t>Trao đổi và hỏi đáp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8C28"/>
                </a:solidFill>
              </a:defRPr>
            </a:pPr>
            <a:r>
              <a:t>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51960"/>
            <a:ext cx="4389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0">
                <a:solidFill>
                  <a:srgbClr val="FFFFFF"/>
                </a:solidFill>
              </a:defRPr>
            </a:pPr>
            <a:r>
              <a:t>Học liệu tập trung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65760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8C28"/>
                </a:solidFill>
              </a:defRPr>
            </a:pPr>
            <a:r>
              <a:t>PROGRESS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251960"/>
            <a:ext cx="4389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0">
                <a:solidFill>
                  <a:srgbClr val="FFFFFF"/>
                </a:solidFill>
              </a:defRPr>
            </a:pPr>
            <a:r>
              <a:t>Theo dõi tiến độ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Dữ liệu đăng ký được chuẩn hóa trước khi phân tích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0">
                <a:solidFill>
                  <a:srgbClr val="FFFFFF"/>
                </a:solidFill>
              </a:defRPr>
            </a:pPr>
            <a:r>
              <a:t>Ctrl + Shift + L  →  Department = CNTT</a:t>
            </a:r>
            <a:br/>
            <a:r>
              <a:t>AttendanceScore  &lt;  7</a:t>
            </a:r>
            <a:br/>
            <a:br/>
            <a:r>
              <a:t>Nếu tên tìm kiếm không khớp: dùng TRIM() để loại bỏ khoảng trắng thừa.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7150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8C28"/>
                </a:solidFill>
              </a:defRPr>
            </a:pPr>
            <a:r>
              <a:t>Nguyên tắc: Header duy nhất • Không dòng tổng giữa dữ liệu • Dữ liệu sạch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